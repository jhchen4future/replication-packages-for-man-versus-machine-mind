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modernComment_19D_B981D3D4.xml" ContentType="application/vnd.ms-powerpoint.comments+xml"/>
  <Override PartName="/ppt/ink/ink7.xml" ContentType="application/inkml+xml"/>
  <Override PartName="/ppt/notesSlides/notesSlide25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26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2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64" r:id="rId2"/>
    <p:sldId id="368" r:id="rId3"/>
    <p:sldId id="369" r:id="rId4"/>
    <p:sldId id="370" r:id="rId5"/>
    <p:sldId id="371" r:id="rId6"/>
    <p:sldId id="405" r:id="rId7"/>
    <p:sldId id="400" r:id="rId8"/>
    <p:sldId id="372" r:id="rId9"/>
    <p:sldId id="401" r:id="rId10"/>
    <p:sldId id="385" r:id="rId11"/>
    <p:sldId id="406" r:id="rId12"/>
    <p:sldId id="374" r:id="rId13"/>
    <p:sldId id="375" r:id="rId14"/>
    <p:sldId id="376" r:id="rId15"/>
    <p:sldId id="377" r:id="rId16"/>
    <p:sldId id="402" r:id="rId17"/>
    <p:sldId id="379" r:id="rId18"/>
    <p:sldId id="387" r:id="rId19"/>
    <p:sldId id="407" r:id="rId20"/>
    <p:sldId id="408" r:id="rId21"/>
    <p:sldId id="409" r:id="rId22"/>
    <p:sldId id="410" r:id="rId23"/>
    <p:sldId id="411" r:id="rId24"/>
    <p:sldId id="413" r:id="rId25"/>
    <p:sldId id="415" r:id="rId26"/>
    <p:sldId id="414" r:id="rId27"/>
    <p:sldId id="416" r:id="rId28"/>
    <p:sldId id="394" r:id="rId29"/>
    <p:sldId id="395" r:id="rId30"/>
    <p:sldId id="418" r:id="rId31"/>
    <p:sldId id="396" r:id="rId32"/>
    <p:sldId id="397" r:id="rId33"/>
    <p:sldId id="398" r:id="rId34"/>
    <p:sldId id="419" r:id="rId35"/>
    <p:sldId id="399" r:id="rId36"/>
    <p:sldId id="412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5091AE-D8E8-C98C-13AE-344CC787DD4C}" name="Jinghao CHEN" initials="JC" userId="1bc0ef93ed2ad2f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913" autoAdjust="0"/>
  </p:normalViewPr>
  <p:slideViewPr>
    <p:cSldViewPr snapToGrid="0">
      <p:cViewPr varScale="1">
        <p:scale>
          <a:sx n="100" d="100"/>
          <a:sy n="100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omments/modernComment_19D_B981D3D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1B37FD-C1A0-483F-B3A1-0B29D194830B}" authorId="{E05091AE-D8E8-C98C-13AE-344CC787DD4C}" created="2025-04-21T12:30:08.2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12293332" sldId="413"/>
      <ac:picMk id="4" creationId="{C6F0E56B-CD5E-D58B-C817-87E52D939109}"/>
    </ac:deMkLst>
    <p188:txBody>
      <a:bodyPr/>
      <a:lstStyle/>
      <a:p>
        <a:r>
          <a:rPr lang="zh-CN" altLang="en-US"/>
          <a:t>说明里的Next已改为下一页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5T02:16:5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24575,'3'0'0,"1"3"0,3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5T02:18:5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24575,'-14'36'0,"6"-15"0,1-2 0,1 1 0,1-1 0,0 1 0,2-1 0,-3 38 0,7 455-1365,-1-497-5461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5T02:18:5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24575,'13'0'0,"0"0"0,1 1 0,-1 0 0,23 6 0,-34-7 0,1 1 0,0 0 0,0 0 0,0 1 0,-1-1 0,1 1 0,0-1 0,-1 1 0,1 0 0,-1 0 0,0 0 0,0 0 0,0 0 0,0 0 0,0 1 0,0-1 0,0 1 0,-1-1 0,1 1 0,-1 0 0,0-1 0,0 1 0,0 0 0,0 0 0,0 0 0,0 5 0,1 23 0,-1-1 0,-5 51 0,3-78 0,0 0 0,1-1 0,-1 1 0,0 0 0,0 0 0,-1 0 0,1-1 0,0 1 0,-1-1 0,0 1 0,0-1 0,1 1 0,-1-1 0,-1 0 0,1 0 0,-5 3 0,-4 3 0,-1-1 0,-19 10 0,-13 8 0,24-14 0,17-9 0,-1 0 0,1 0 0,0 0 0,0 0 0,0 0 0,0 1 0,-3 2 0,6-5 0,0 1 0,0-1 0,0 1 0,1-1 0,-1 0 0,0 1 0,0-1 0,1 0 0,-1 1 0,0-1 0,0 0 0,1 0 0,-1 1 0,0-1 0,1 0 0,-1 0 0,0 1 0,1-1 0,-1 0 0,0 0 0,1 0 0,-1 0 0,1 0 0,-1 0 0,0 1 0,1-1 0,-1 0 0,1 0 0,-1 0 0,0 0 0,1 0 0,-1-1 0,1 1 0,-1 0 0,1 0 0,18 1 0,17-1 0,-4 0 0,-1 1 0,52 8 0,-75-8 0,49 14 0,-52-13 0,-1-1 0,1 2 0,-1-1 0,0 0 0,0 1 0,0 0 0,0 0 0,0 0 0,6 8 0,26 24 0,-31-32 0,0 1 0,0 1 0,0-1 0,-1 0 0,1 1 0,-1 0 0,-1 0 0,1 1 0,-1-1 0,0 1 0,0-1 0,0 1 0,-1 0 0,3 10 0,1 10 0,-3-17 0,-1 0 0,-1 0 0,1 0 0,-1 0 0,-1 18 0,0-25 0,0 0 0,-1 0 0,1 0 0,-1 0 0,0 0 0,1 0 0,-1-1 0,0 1 0,0 0 0,0 0 0,0-1 0,0 1 0,-1 0 0,1-1 0,0 0 0,-1 1 0,1-1 0,-1 0 0,0 1 0,1-1 0,-1 0 0,0 0 0,0-1 0,1 1 0,-1 0 0,0 0 0,0-1 0,0 1 0,0-1 0,0 0 0,0 0 0,-3 1 0,-40 1 0,-59-4 0,21 0 0,-110 2-1365,178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5T02:18:59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24575,'0'371'0,"-1"-357"0,-1 0 0,0 1 0,-1-1 0,-1-1 0,0 1 0,-9 20 0,-4 13 0,11-18-1365,4-15-5461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5T02:19:0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24575,'407'0'-1365,"-392"0"-5461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5T02:19:0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24575,'39'1'0,"-28"1"0,1-1 0,-1-1 0,1 0 0,-1-1 0,1 0 0,-1-1 0,22-6 0,1-8 0,-18 8 0,32-11 0,-36 14-1365,-2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24575,'0'32'0,"2"0"0,1-1 0,2 0 0,1 0 0,1 0 0,2-1 0,1 0 0,1 0 0,22 38 0,-25-52 0,0-1 0,-1 1 0,-1 0 0,8 29 0,5 28 0,-9-42 0,5 36 0,-12-48 0,2-1 0,6 18 0,-5-21 0,-1 1 0,-1 0 0,2 17 0,5 25 335,-7-40-1185,4 33 0,-7-33-5976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24575,'0'32'0,"2"0"0,1-1 0,2 0 0,1 0 0,1 0 0,2-1 0,1 0 0,1 0 0,22 38 0,-25-52 0,0-1 0,-1 1 0,-1 0 0,8 29 0,5 28 0,-9-42 0,5 36 0,-12-48 0,2-1 0,6 18 0,-5-21 0,-1 1 0,-1 0 0,2 17 0,5 25 335,-7-40-1185,4 33 0,-7-33-5976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24575,'0'32'0,"2"0"0,1-1 0,2 0 0,1 0 0,1 0 0,2-1 0,1 0 0,1 0 0,22 38 0,-25-52 0,0-1 0,-1 1 0,-1 0 0,8 29 0,5 28 0,-9-42 0,5 36 0,-12-48 0,2-1 0,6 18 0,-5-21 0,-1 1 0,-1 0 0,2 17 0,5 25 335,-7-40-1185,4 33 0,-7-33-5976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24575,'0'32'0,"2"0"0,1-1 0,2 0 0,1 0 0,1 0 0,2-1 0,1 0 0,1 0 0,22 38 0,-25-52 0,0-1 0,-1 1 0,-1 0 0,8 29 0,5 28 0,-9-42 0,5 36 0,-12-48 0,2-1 0,6 18 0,-5-21 0,-1 1 0,-1 0 0,2 17 0,5 25 335,-7-40-1185,4 33 0,-7-33-5976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6T17:29:2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F4E453-1E61-4E00-AB5D-A5AC8E803137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BC8F9-5DB3-4048-A0A7-AE855B77C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27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D932-D40E-502C-09A5-7E6635746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ABAAA0-228D-BE25-601A-635B75C8F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A04794-66C8-7139-D0CD-A92C90906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5FD16B-5D77-BD3F-525B-E27E59540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568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44628-6B1F-CCAB-558C-9D1A367D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06EA34-DE28-08EE-FA85-344D95350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2D4ABE-1F49-B863-636F-5FC5EB1C0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ECBF5B-D5F1-6905-4EA9-74E3699A7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06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D223-2A60-8A95-4116-834ADFAFA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715CDC-BDD8-23E1-7A57-2BC268524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15A350-C99C-44E3-E41B-A846C500A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EDF9DC-7D59-B72D-13FF-B57DC7BAD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383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D709-D92D-014E-B67D-0D7A1CB8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2E0C53-7021-E0A5-F347-FC3CAC170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CA1A16-FEE0-E862-69A2-E59449844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EB0BC5-2927-F588-DBDC-ABE793B3B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781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AF1D-06D1-80E7-53DB-2B19EDB1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B62E92-D8EC-A26A-6327-D967A287F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D3D1AC-2C3E-5E04-6467-3525CBD86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21A272-AB08-A858-6F6C-304016ADB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626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2271-1782-0702-BF46-E7761418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99ACF7-D00C-23FF-6C10-C84C60B77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7349C-2793-93B4-0100-A853213F6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F0F049-AB9D-F39E-8C0B-358D3B281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32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C291-852D-BAB2-FFD2-8763EDBFD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66123E-6701-C3D8-B934-E277E592E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472442-64F7-F80A-E458-84713DD29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201AC7-7148-D05F-4F20-4706814FE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585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09C5-797A-2C4A-E0F1-C9655CDA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723511-F63E-4223-8645-807769205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C63FF6-E383-541F-DCE6-D6599FC27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3EC780-7FFF-D6C5-C4EE-D91EB6D10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323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EDD5-872F-18DF-CA09-0F09570AA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1CB516-AF2B-8867-2289-FEE5283FC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2AC813-6207-7297-85AF-C512297F2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027100-FC39-1B66-EB02-C0526BC2F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834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FAE86-0667-6C86-FF86-465D73B4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DC3C37-549D-657B-33CB-D1D2E9F7C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4D2A30-E908-650A-EC69-01EA2B096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40D0D8-6402-652D-C054-E791DA13C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903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CD64-8F47-E4B1-61FA-5CDEFC7A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C101B7-DA9A-2CE8-C8A3-764DDFACD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8A6182-D16D-E9D4-CE4D-44A3DBB94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C3822-9656-7E5E-6FBC-2CB509D35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043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8C780-659B-E6AF-673F-50A0A994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B1AE29-6163-C1A9-54A6-7E749F6CA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924BF1-4B62-E5C6-4B08-5E0C0DBCB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CF26D5-55DA-CE5F-FAD4-E039CA187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075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DBD9-730A-4F68-3084-2F9FC1A1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FD8253-8ED1-7BE2-AFAA-C267831B5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02C50-F7CE-C0F7-E695-5932E2360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B5E742-3A93-57E1-0110-3FA6BB3D7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898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CED2C-25A7-A012-7E71-FFAA135D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3063E3-E5B2-0ECB-894E-53AFDEE6D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B94552-B55A-C4D1-B8F1-518EC3EB6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FBF506-B954-4C62-FC7A-072C3A72E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488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0DCE-E2CE-09AD-5F94-5AFFF931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D71722-9EDB-209B-9010-06D15F8DC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802902-2783-7110-026B-39ECE95D0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DBB7C1-5EEE-7FE3-BA73-2F33AAE9B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912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6B97-B993-37F1-22F5-DC6BFBE9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EBB251-5F5D-FADB-3DFA-F3DC3C47A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124DCD-63D9-90DE-53CF-369FC6E99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E7744-DBDE-FECF-197B-CDFC35027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31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80A97-C9C1-E412-59DE-0AF724CB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20B017-AE4B-D574-7DB8-2F3EB8DA4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5E6CB5-577D-B59E-29A7-DD755FE3E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C7C837-712C-8675-DDBC-48240508E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48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7ED7F-160D-D410-6B9D-E5BB9AAE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56333F-ACDD-22EE-D6DE-701B14E05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0DC133-7D72-187C-DB61-3607508D5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535400-454A-4D84-867F-32D5FD085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811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9B583-CFF4-DC3B-9156-E70D34D4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58DD78-19F8-A0D3-2C6C-0CCE36411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D7596D-BAC0-787A-C45D-FF15AD948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E708A3-BBBF-6633-E0BD-E5CA219C3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100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1F410-7EEA-94D7-74A7-9D1713E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519E26-ECDC-1121-6FF9-CE96F6374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7EFB42-F00D-DB46-E4E4-BE00CD6DD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BD5B4D-A5A3-F0BA-0CE0-51C238565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8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37835-5B6D-6ABF-13D0-F6F6CDEA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055178-7CE6-FD09-A029-06D637DA7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1F066F-1FCF-E954-AA6C-E52127F0A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904CF-5FE2-0CCF-4EA6-E267578F9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2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3E56-7490-B3AA-F89A-8D242FB4B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713427-FA77-57DD-1457-62D70D4F0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06C393-CFB0-A73A-A5CC-206E74EC1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E8049A-C63A-BB36-87F6-CE3C5486F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9144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BB7C-4022-12CD-6C85-16F6F103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DA677D-32B7-6BB4-FD68-0E462295C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CCA412-9136-B604-ACAF-11A99CD83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B51DE0-3F60-300B-3686-CE8AD0826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3292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106C-3FA2-90A8-494D-7CAD4021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0263A7-6D29-E24E-E9A4-E2156A0E3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C35E6E-4C03-47B2-5F33-79C3BA4A8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AB3C7-D23E-A8FF-EA52-E748540CC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599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BA5B-A5BB-B791-A5C6-929814619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032BDE-E53A-1786-CAF8-977649B3E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93FE26-28E9-235A-1EB8-E81AFA767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F3A585-5972-06ED-4D06-80901E1F9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112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0E9AA-D75D-72A4-723E-E24E2E74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3695E-0628-73F0-1976-3CFDB93F9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62F0DC-41A8-D92E-E5B9-D575FD6E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4F401-DB9E-C076-53D1-9CF1AEF67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462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CC942-CA24-9361-17B0-06BF3D44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0A5659-43EA-7D97-F99B-671225C36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CF29FA-4B51-02F2-EBD7-30A3A79B3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614AF1-8CC8-3BF8-D5EC-1D3B77FA7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9705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3A20-4B22-762D-A522-B240D45A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C69F9-7127-E24C-8BA7-FBF8B7F17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4466E8-8521-9AF8-3A9A-E3A3239B6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2BF909-7F6A-CFF4-D19B-1E6210300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522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F077-07D6-096C-5505-4DDB523F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5A2B00-16CF-23E1-AF99-6C9BD384E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48E64A-3FFF-0048-BB82-5867D47CB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4501F7-FF4A-6CB3-1B8A-69FE855B7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462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83B4-E891-1D49-D981-72D7E92A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206399-39BF-CB73-045A-D8E5B45C4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F2B862-5184-38AA-C5E4-4C92F51FC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46362D-E7DA-7559-A312-70E709515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4955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C4D1-6697-334D-61C6-D834D807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449759-1750-0FE9-EA09-D92298775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0C14DC-6F32-3F19-3D3C-8496C98F6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4E064F-B0F1-E291-1AF2-6FD5455A0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230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12DA7-4ECA-7B56-C323-C52A0B6C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82212F-2CF0-CB80-D0C8-06C8E9216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E4B46A-596E-9691-B29A-2316CA899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58FC2-692B-FF9E-F15A-3406600B3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8668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A1159-45DF-FB84-CFAC-07B1C4270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9EA2CD-145C-F405-F88B-9D2188600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72CD47-9B95-0C18-6401-B182D4E6E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2D4DB4-D8E9-C3FE-A52E-1953F9D77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6014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E18FB-2460-9093-B379-5F2FEF07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668B33-98CE-8C15-BD7D-C3C7D67CD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96B174-9BA2-A515-B7B3-AE15B0F8C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196907-E24E-2624-DB9B-A6FDA84BE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5897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2CE57-419A-25E0-97A2-298983CE1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82CCCD-68B5-3E23-4756-0402B537D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58A7CE-1A69-0F43-229F-E03D4C4A3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8EC619-0B3D-DA51-7A30-58D83EFD1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4852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CD15-53B5-BF22-11BE-5E88E56D1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D24317-70C8-A480-0879-DF81882A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056388-B105-67B3-4F27-DFAA1FDA6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9B8CB-FB46-03EA-3FDC-7E0C6F1E1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BC8F9-5DB3-4048-A0A7-AE855B77C13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02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CA2F0-30FB-56CB-91C8-D64A7CF70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3037A6-B6D2-2BCD-7FEC-5FEA173D6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142FA2-2905-0CD1-0D6A-C045A28EF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4C9A58-92FA-DD1C-CD6F-FD44E96E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CFDD8E-18ED-8175-81FB-808A8DD9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04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D6514-8005-2434-7AA9-0505BA4B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D543D-198F-DDAE-9549-0A0DF2EFC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97B50E-819E-965F-09C5-C2D8378B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17F921-7193-CBA9-3920-4AA02ACC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0B6763-C66D-FF08-C118-3A8195C4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07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2D9BC-1CCE-FECD-B5C7-1D1EEE87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2C2DFE-E6E2-3CDC-4CD6-22F7C1759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7C429C-AC32-9BAF-6846-71953331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8EC60C-2EAF-D85A-4EF2-AF93122B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A6FF55-82BC-81CE-A94B-181622D6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92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D5951-8DC5-EA50-CE61-B7BF3722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37BB26-E701-1FA1-7247-CD922955E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CC7B78-1F5D-88F0-9015-E7A7A4B4B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714BA2-3CA7-A390-B8B4-2FD57A55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2FC736-1CB0-A8ED-C440-21115559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6F58E2-4A5E-AA00-1BB7-03ED1474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77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1E8C7-4F8A-E9A9-CCB4-4EE5D76B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2F58F6-C4D1-0172-D048-6013DB21D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E531F9-4FC1-0274-553A-B0344ED47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4E8C48-DA5F-1B96-279C-90E3E0855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A9B113-1519-1A76-0509-F13524F1E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DE8C51-14AB-F2C1-F066-28E8D4CC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4401CC-B7DE-B68C-75D3-03E25A13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C1D5AE-AD76-05F0-2DF5-FFD1E75E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73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5606B-54EE-3106-F30D-5ACE3DA0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61F523-C5EB-794E-956B-11E7157E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C941CC-DEAC-2DA2-11BA-81E6CEDE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697A2B-FF6B-D0CE-C3A4-3D4533E6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08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DB98E3-9E97-7B92-2F99-97B3FCB9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9D4359-22B6-4442-C1CE-902779AB8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300F08-BFBD-4A47-0DD2-31A69139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62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62B4C-72D5-824A-214C-AF7625E6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BC0F3-23E6-E833-EAB9-41A8BF20C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C43BF9-75F0-0EF2-BDD3-0B514D823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86909A-6A2F-E373-291F-BA105A81A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64160A-A9E9-387F-229F-B2F46AB1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EBAB17-2FCE-C617-4D0A-A0E31248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47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AA3DD-8C32-5571-048C-4F4F5B5A9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589091-78D6-1AC0-8E82-67BE11C1D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11F1E8-B485-82B5-54CE-01A7D2C75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313DB1-C1E9-9475-F044-17953FE6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91994F-3695-5B42-4D41-17830DB7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4870F9-B30A-402E-33CF-F9A3FC8F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82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68D16-4D12-B89A-4BAA-12AC498E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D0EE88-371D-303B-334A-83BC41673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C6FC00-9223-8B9C-693B-BD024424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9DB75-A0AC-72BE-A5E2-3D1827E6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1A454-2A8C-8639-7DDC-F8B7916A4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1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4E92D9-A4CA-BD13-E3A0-A42FB7BB1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D3D78D-9878-C602-6382-4B6526A36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7FBCA2-AAF5-63AA-1916-8A085139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131314-B667-47CE-FB1A-335353AB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6BE791-D62A-FC25-325F-95C1898C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87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B237C1-5ACD-8EB0-7928-A144BED3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3215CF-AB56-9E62-E64B-7DBD3A830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5FCDD-6087-11C1-FBC0-27C00000C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861BB-2103-4022-B4ED-C402ED6CAA70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41FD32-E055-4540-06C6-DF0FF9B5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01FAE-1F87-8913-3499-A9AB2323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54566-EF52-4B23-ACF8-30FF9A9FD3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40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1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8.png"/><Relationship Id="rId3" Type="http://schemas.openxmlformats.org/officeDocument/2006/relationships/customXml" Target="../ink/ink2.xml"/><Relationship Id="rId7" Type="http://schemas.openxmlformats.org/officeDocument/2006/relationships/image" Target="../media/image25.png"/><Relationship Id="rId12" Type="http://schemas.openxmlformats.org/officeDocument/2006/relationships/customXml" Target="../ink/ink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7.png"/><Relationship Id="rId5" Type="http://schemas.openxmlformats.org/officeDocument/2006/relationships/image" Target="../media/image240.png"/><Relationship Id="rId10" Type="http://schemas.openxmlformats.org/officeDocument/2006/relationships/customXml" Target="../ink/ink5.xml"/><Relationship Id="rId9" Type="http://schemas.openxmlformats.org/officeDocument/2006/relationships/image" Target="../media/image26.png"/><Relationship Id="rId1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D_B981D3D4.xm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4" Type="http://schemas.openxmlformats.org/officeDocument/2006/relationships/customXml" Target="../ink/ink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9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1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13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15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CE48-7A29-5ADE-139C-F77F8DC6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8F3C44-56B0-F170-ECFB-E3C6AA813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总说明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A2EA23-4CF7-B910-F78D-BE52B176F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706381"/>
            <a:ext cx="10326409" cy="604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5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36D7-C09A-D497-FC27-F36B4E7C6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B4443-2FE4-AAE5-C648-F925E4D20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身份输入与输出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199A7D-60F8-FE55-F058-DDAFE722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083" y="763125"/>
            <a:ext cx="6245817" cy="34036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AE158C0-001F-5B38-5FDF-210D003D6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67" y="4095007"/>
            <a:ext cx="9886950" cy="299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2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3EEA8-5005-E10D-E9AB-C0CE0CFC5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051A2-E994-A668-24B1-6818DD0C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游戏说明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6379113-E319-685F-9502-2AA7A0665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43" y="0"/>
            <a:ext cx="6910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7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42DE-3D28-8F12-E348-2A1C9B10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025AD-0658-3818-F0D3-EB2F9ACE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游戏说明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B5C86A-C6D1-F2E3-6E3A-C0C782A76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626" y="0"/>
            <a:ext cx="78794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3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12F72-3102-58F4-7533-3E357FF9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A1EAE-83B7-8A92-B8A4-8F80DF4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游戏说明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EAB94B-745A-D63E-56E2-2BE42406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158" y="0"/>
            <a:ext cx="7423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9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FF184-75E4-8C50-A782-0D6002AF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E062A-3BFA-4ACF-49AA-8154CD9E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2042748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游戏说明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按钮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b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猜测点数计算方式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8BA666-BA6E-44F6-3A05-82D5C3FA9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896" y="0"/>
            <a:ext cx="6219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7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B365-78D7-5E91-9149-E1348A85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C8E86-5324-B483-250A-73E9892A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类型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PD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）测试问题说明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726D7C-A3C1-5B32-EC1E-655D3F891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1228"/>
            <a:ext cx="12192000" cy="509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7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ACB0-A627-74E5-E4AB-96393947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7FEB2-F137-1227-D4B5-97564AC3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类型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PD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）测试问题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A8C0B4-F346-40A8-1895-31EAE3E8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520" y="878741"/>
            <a:ext cx="6498103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3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6F4FD-2CA2-8E36-24AC-0801EBE7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B4D74-BE88-DCF7-8C06-27F55616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类型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UG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）测试问题说明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FC13FB-99CA-4714-7075-6BD118E8D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6410"/>
            <a:ext cx="12192000" cy="48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1213-D6D7-70F2-96DD-BAC1EBF8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C2FF1-499D-80F4-943B-FE71ECB6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类型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UG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）测试问题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50A5D7-8B62-713B-627D-3F02FE506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999" y="850482"/>
            <a:ext cx="7397223" cy="600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10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825F0-0BA6-BA1D-1406-56B16113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A040B-FFB3-B691-82BC-321316200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等待进入正式游戏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26369B-499E-85C0-DAB8-70DCBA4DA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09" y="2533525"/>
            <a:ext cx="8821381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6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86C1-FD2F-9051-485C-C222FA41E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CCFE8-064C-2290-F64B-7C20C3EE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-PD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游戏说明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AFC78C-5BC1-3374-4CAC-5743EFA50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86" y="1256997"/>
            <a:ext cx="11298227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70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2652-8860-14E3-0513-9E6C3881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7F086-1211-6A29-F0B1-91A319E0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-PD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身份展示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EBD288-C8CA-40BB-AD47-CA4EA7BB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0" y="2085787"/>
            <a:ext cx="10383699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13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E1F58-C25C-9DAE-145B-45CD4222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B87DE-C90D-5498-C23F-1A6DA888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-PD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决策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21F1DCDC-6AA6-BE38-D4D2-83421F35E8F8}"/>
                  </a:ext>
                </a:extLst>
              </p14:cNvPr>
              <p14:cNvContentPartPr/>
              <p14:nvPr/>
            </p14:nvContentPartPr>
            <p14:xfrm>
              <a:off x="-298820" y="488700"/>
              <a:ext cx="5400" cy="288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21F1DCDC-6AA6-BE38-D4D2-83421F35E8F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307460" y="480060"/>
                <a:ext cx="23040" cy="205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DBBD06B3-531D-533F-669E-464ADFAFEBE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40187" y="615950"/>
            <a:ext cx="7400388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6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583C-785B-03AF-BBC6-A382322C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9AE5A-187F-1132-C81B-E83E23C6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-PD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预测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41D25B-5A6E-3D24-FF80-B85305D86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150" y="0"/>
            <a:ext cx="7518444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7BB51B7-7343-4649-C4ED-79E133A500B5}"/>
              </a:ext>
            </a:extLst>
          </p:cNvPr>
          <p:cNvSpPr txBox="1"/>
          <p:nvPr/>
        </p:nvSpPr>
        <p:spPr>
          <a:xfrm>
            <a:off x="355600" y="1993900"/>
            <a:ext cx="3943350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类似页面的所有的（请输入小数）统一改为了（请输入两位小数）</a:t>
            </a:r>
          </a:p>
        </p:txBody>
      </p:sp>
    </p:spTree>
    <p:extLst>
      <p:ext uri="{BB962C8B-B14F-4D97-AF65-F5344CB8AC3E}">
        <p14:creationId xmlns:p14="http://schemas.microsoft.com/office/powerpoint/2010/main" val="2970819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6A6F-9C7F-558A-8462-3577DC2B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56351-B888-606E-6EF6-DA1DABFFF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满意度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subjective well-being (SWB)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896A5F-EE8B-8DCD-CE68-93BAC0B38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205" y="111516"/>
            <a:ext cx="5634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56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D2F9-5E40-B89F-F7CC-DCF98B60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D3576-AB44-65E1-F094-B111B1D35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结果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D8CE04C-4829-6069-C248-E40D29F8BEA8}"/>
                  </a:ext>
                </a:extLst>
              </p14:cNvPr>
              <p14:cNvContentPartPr/>
              <p14:nvPr/>
            </p14:nvContentPartPr>
            <p14:xfrm>
              <a:off x="3866380" y="3060510"/>
              <a:ext cx="19800" cy="26604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D8CE04C-4829-6069-C248-E40D29F8BE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7740" y="3051870"/>
                <a:ext cx="374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D2403BCA-45E2-7607-A9DA-0003963D6744}"/>
                  </a:ext>
                </a:extLst>
              </p14:cNvPr>
              <p14:cNvContentPartPr/>
              <p14:nvPr/>
            </p14:nvContentPartPr>
            <p14:xfrm>
              <a:off x="3873940" y="3060510"/>
              <a:ext cx="176040" cy="24300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D2403BCA-45E2-7607-A9DA-0003963D67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65300" y="3051870"/>
                <a:ext cx="193680" cy="26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A6D674FD-DC3F-962D-AC9D-8894ACF2890A}"/>
              </a:ext>
            </a:extLst>
          </p:cNvPr>
          <p:cNvGrpSpPr/>
          <p:nvPr/>
        </p:nvGrpSpPr>
        <p:grpSpPr>
          <a:xfrm>
            <a:off x="4895620" y="3536790"/>
            <a:ext cx="158760" cy="208800"/>
            <a:chOff x="4895620" y="3536790"/>
            <a:chExt cx="15876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39A74AF-66AB-404A-5658-8EF8EB95016E}"/>
                    </a:ext>
                  </a:extLst>
                </p14:cNvPr>
                <p14:cNvContentPartPr/>
                <p14:nvPr/>
              </p14:nvContentPartPr>
              <p14:xfrm>
                <a:off x="4895620" y="3536790"/>
                <a:ext cx="19800" cy="20880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39A74AF-66AB-404A-5658-8EF8EB9501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86620" y="3528150"/>
                  <a:ext cx="37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1EAC3DC7-E1B5-4715-939E-6D9BD798FEB1}"/>
                    </a:ext>
                  </a:extLst>
                </p14:cNvPr>
                <p14:cNvContentPartPr/>
                <p14:nvPr/>
              </p14:nvContentPartPr>
              <p14:xfrm>
                <a:off x="4902100" y="3536790"/>
                <a:ext cx="15228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1EAC3DC7-E1B5-4715-939E-6D9BD798FE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93100" y="3528150"/>
                  <a:ext cx="16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5E966107-76E2-1645-7C45-FDDB146F909A}"/>
                    </a:ext>
                  </a:extLst>
                </p14:cNvPr>
                <p14:cNvContentPartPr/>
                <p14:nvPr/>
              </p14:nvContentPartPr>
              <p14:xfrm>
                <a:off x="4927660" y="3654870"/>
                <a:ext cx="98280" cy="237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5E966107-76E2-1645-7C45-FDDB146F90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18660" y="3645870"/>
                  <a:ext cx="115920" cy="41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7240A41C-935E-7D8E-2D52-9603CC28CB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71178" y="1623760"/>
            <a:ext cx="7649643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0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7CFD1-A075-1F83-C4D6-E78314E8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D16AA-2944-AEFC-735E-876573EEE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-TG/UG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游戏说明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E787EE-9F68-D24C-16A7-DB3C04E85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97" y="1423707"/>
            <a:ext cx="11326806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87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3309-F684-2BC1-909A-7314EA93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65D3F-3310-94AE-6686-81A85327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-TG/UG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身份展示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9B79F7-94AE-A4CE-EA46-EB00F628F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0" y="2085787"/>
            <a:ext cx="10383699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33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6EE0E-AAE9-974D-F36C-CC490271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56149-DE85-49FA-D7E5-818E8D5A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-TG/UG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决策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A09008-A435-A2BB-36E1-44939457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57" y="792528"/>
            <a:ext cx="8316486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38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DDB2-1AD7-C4FC-4551-64F41067A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E58C4-DD88-8CF7-4666-E2C185BA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-TG/UG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游戏预测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58649EB-A096-F944-1142-D23226AE3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0" y="1037888"/>
            <a:ext cx="10031132" cy="58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87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34EB-CF12-0EB1-6B8D-16F91BE3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A312B-70D4-23B9-7BE3-C9DC4385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-TG/UG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24E031-085F-1A40-480A-1CBE16311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468" y="1476102"/>
            <a:ext cx="7983064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20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3782D-85FB-02A2-4776-601FC710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2AAFE-45A7-12D7-AD55-C3B030753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重复省略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8495820-68EC-EB60-F6F8-309DDDF9F825}"/>
              </a:ext>
            </a:extLst>
          </p:cNvPr>
          <p:cNvSpPr txBox="1">
            <a:spLocks/>
          </p:cNvSpPr>
          <p:nvPr/>
        </p:nvSpPr>
        <p:spPr>
          <a:xfrm>
            <a:off x="1962150" y="1695450"/>
            <a:ext cx="9248189" cy="1733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按照（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PD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UG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TG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）作为一组，组内三个游戏的顺序是随机的。一共有有六组游戏。按照上面一样的页面进行循环。不做重复展示。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18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个游戏结束后进入游戏二（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Bomb Risk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2384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0BA6-E119-BBBE-8219-B8A798B8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93296-DD09-29CD-0F75-15B087E2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-Bomb Risk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游戏说明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E3E3E73-E607-F82D-FE72-CAF4E53B4F38}"/>
                  </a:ext>
                </a:extLst>
              </p14:cNvPr>
              <p14:cNvContentPartPr/>
              <p14:nvPr/>
            </p14:nvContentPartPr>
            <p14:xfrm>
              <a:off x="1689181" y="371691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F4D7EB8-9BD5-5AEF-3D28-E79BF8D3EA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0541" y="36305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6F0E56B-CD5E-D58B-C817-87E52D9391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4511" y="763125"/>
            <a:ext cx="6164982" cy="609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933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C274-FBE2-C313-30A2-6BA1B86D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0921F-57BA-B982-FB3B-23720A81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彩票游戏测试问题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64F4242-0F2A-98E9-2ECB-D3EF81965B35}"/>
                  </a:ext>
                </a:extLst>
              </p14:cNvPr>
              <p14:cNvContentPartPr/>
              <p14:nvPr/>
            </p14:nvContentPartPr>
            <p14:xfrm>
              <a:off x="4238701" y="3672891"/>
              <a:ext cx="86040" cy="332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7F48A11-54AC-638C-8728-328A50BF5C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0061" y="3663891"/>
                <a:ext cx="1036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1BC38366-1D9C-D823-63F6-085646F99550}"/>
                  </a:ext>
                </a:extLst>
              </p14:cNvPr>
              <p14:cNvContentPartPr/>
              <p14:nvPr/>
            </p14:nvContentPartPr>
            <p14:xfrm>
              <a:off x="1689181" y="371691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F4D7EB8-9BD5-5AEF-3D28-E79BF8D3EA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0541" y="36305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DFE706EB-FB5E-1A85-CE8C-AADB7675E8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913" y="1209365"/>
            <a:ext cx="1073617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80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ED4F-C6CF-2970-2959-E970E7161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63D98-9050-9EC4-E25B-C6E2C9CA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彩票游戏决策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815E4D3-7C51-F114-90C4-89D4FE613F01}"/>
                  </a:ext>
                </a:extLst>
              </p14:cNvPr>
              <p14:cNvContentPartPr/>
              <p14:nvPr/>
            </p14:nvContentPartPr>
            <p14:xfrm>
              <a:off x="4238701" y="3672891"/>
              <a:ext cx="86040" cy="332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7F48A11-54AC-638C-8728-328A50BF5C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0061" y="3663891"/>
                <a:ext cx="1036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A30177CB-4162-35A1-39D8-9000BD07D772}"/>
                  </a:ext>
                </a:extLst>
              </p14:cNvPr>
              <p14:cNvContentPartPr/>
              <p14:nvPr/>
            </p14:nvContentPartPr>
            <p14:xfrm>
              <a:off x="1689181" y="371691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F4D7EB8-9BD5-5AEF-3D28-E79BF8D3EA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0541" y="36305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55EC265-EE2E-F4E7-7442-B049259F14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2520" y="1476102"/>
            <a:ext cx="830695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96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C6DF4-DD3A-8362-DBE6-D7B3E98CB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E760B-43B5-CCF8-C718-044D34352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彩票游戏结果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9242116-A7B5-1EC1-87F8-284C819CAB90}"/>
                  </a:ext>
                </a:extLst>
              </p14:cNvPr>
              <p14:cNvContentPartPr/>
              <p14:nvPr/>
            </p14:nvContentPartPr>
            <p14:xfrm>
              <a:off x="4238701" y="3672891"/>
              <a:ext cx="86040" cy="332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7F48A11-54AC-638C-8728-328A50BF5C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0061" y="3663891"/>
                <a:ext cx="1036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85748DB-4C50-6DA2-F47F-E18A921DDADC}"/>
                  </a:ext>
                </a:extLst>
              </p14:cNvPr>
              <p14:cNvContentPartPr/>
              <p14:nvPr/>
            </p14:nvContentPartPr>
            <p14:xfrm>
              <a:off x="1689181" y="371691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F4D7EB8-9BD5-5AEF-3D28-E79BF8D3EA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0541" y="36305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584886F-E87B-BF2A-D87F-45B101C5BC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9072" y="1418944"/>
            <a:ext cx="9173855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4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604A-ECFF-1083-F8EF-CCD0FE46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779E5-D050-9ED1-0C69-BA7B4F9B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1 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人口统计信息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5E80A1-86FD-52F1-D1A5-ADCA2CC1B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250" y="715332"/>
            <a:ext cx="6237479" cy="619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80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FD1ED-7989-6DFD-E180-FF81BB8D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47525-F15F-6DD3-A408-BD243E0F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2 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人格特质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B76EA4-C281-294C-0CB7-803A027AF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600" y="1250950"/>
            <a:ext cx="9994900" cy="5041601"/>
          </a:xfrm>
        </p:spPr>
        <p:txBody>
          <a:bodyPr>
            <a:normAutofit fontScale="85000" lnSpcReduction="10000"/>
          </a:bodyPr>
          <a:lstStyle/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000" kern="100" dirty="0"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我只关注自己游戏中的收入</a:t>
            </a:r>
            <a:endParaRPr lang="en-US" altLang="zh-CN" sz="2000" kern="100" dirty="0">
              <a:effectLst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我不关心其他的参与者</a:t>
            </a:r>
            <a:endParaRPr lang="en-US" altLang="zh-CN" sz="20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我不关注我的决定对集体的影响</a:t>
            </a:r>
            <a:endParaRPr lang="en-US" altLang="zh-CN" sz="20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我关注实验中的金钱回报</a:t>
            </a:r>
            <a:endParaRPr lang="en-US" altLang="zh-CN" sz="20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我不想尽量减少对集体的负面影响</a:t>
            </a:r>
            <a:endParaRPr lang="en-US" altLang="zh-CN" sz="20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6.</a:t>
            </a:r>
            <a:r>
              <a:rPr lang="zh-CN" altLang="en-US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我不想做到公平</a:t>
            </a:r>
            <a:endParaRPr lang="en-US" altLang="zh-CN" sz="20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7.</a:t>
            </a:r>
            <a:r>
              <a:rPr lang="zh-CN" altLang="en-US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我担心公平问题</a:t>
            </a:r>
            <a:endParaRPr lang="en-US" altLang="zh-CN" sz="2000" kern="100" dirty="0"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200000"/>
              </a:lnSpc>
              <a:buNone/>
            </a:pPr>
            <a:r>
              <a:rPr lang="en-US" altLang="zh-CN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zh-CN" altLang="en-US" sz="2000" kern="100" dirty="0"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我从更高的层面、更抽象的角度来思考当前的情况</a:t>
            </a: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4F3778-A6F2-3461-DBE5-1CDB794B4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144" y="565449"/>
            <a:ext cx="6134497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11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7E7B-6F09-A4A9-D476-2680DC0E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11530-E6B8-67AE-B714-15A4D04F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1" y="0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Big Five Inventory</a:t>
            </a:r>
            <a:endParaRPr lang="zh-CN" altLang="en-US" sz="3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B70FF5-F89A-0074-F4F4-9BDB3949D952}"/>
              </a:ext>
            </a:extLst>
          </p:cNvPr>
          <p:cNvSpPr txBox="1"/>
          <p:nvPr/>
        </p:nvSpPr>
        <p:spPr>
          <a:xfrm>
            <a:off x="888865" y="1536174"/>
            <a:ext cx="5556385" cy="467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比较安静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2.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心肠柔软，有同情心 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3.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缺乏条理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4.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时常忧心忡忡，担心很多事情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5.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着迷于艺术、音乐或文学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6.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常常处于主导地位，像个领导一样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7.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有时对人比较粗鲁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8.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很难开始行动起来去完成一项任务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9.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时常觉得悲伤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10.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对抽象的概念和想法没什么兴趣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11.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精力充沛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12.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把人往最好的方面想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13.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可信赖的，可靠的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14.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情绪稳定，不易生气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15.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有创意，能想出新点子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0681500-5400-07C5-505F-B367234DF166}"/>
              </a:ext>
            </a:extLst>
          </p:cNvPr>
          <p:cNvSpPr txBox="1">
            <a:spLocks/>
          </p:cNvSpPr>
          <p:nvPr/>
        </p:nvSpPr>
        <p:spPr>
          <a:xfrm>
            <a:off x="551701" y="325804"/>
            <a:ext cx="3686316" cy="1364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我是一个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···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的人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FA0031-55B7-48FC-6EBB-3FE9B3756A33}"/>
              </a:ext>
            </a:extLst>
          </p:cNvPr>
          <p:cNvSpPr txBox="1"/>
          <p:nvPr/>
        </p:nvSpPr>
        <p:spPr>
          <a:xfrm>
            <a:off x="6883164" y="1008258"/>
            <a:ext cx="6105524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Extraversion: 1R, 6, 11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Agreeableness: 2, 7R, 12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Conscientiousness: 3R, 8R, 13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Negative Emotionality: 4, 9, 14R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Open-Mindedness: 5, 10R, 15 </a:t>
            </a:r>
            <a:endParaRPr lang="zh-CN" altLang="en-US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B549F3-481E-05A3-9C55-C23A68CDA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284" y="3259656"/>
            <a:ext cx="4977353" cy="32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031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D954-5E91-C943-E0C4-62B1F75E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75C53-A5E1-C2C1-0B6F-D48900A6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4 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决策环境感知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3E1298-3533-EABE-15A2-6E35A43C1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090" y="920750"/>
            <a:ext cx="7185660" cy="598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7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BAC0-32B9-BB38-EB9C-B010D52B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4BF43-EA60-18AC-0F48-720B037E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5 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金钱驱动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2D3801-F052-565B-E635-BC36B2855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0" y="709980"/>
            <a:ext cx="6662154" cy="614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02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2D26-F39C-6367-F93B-A5FBA276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8EAEF-DF91-1F0B-14D1-31B92557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人机感知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C0F6F1-2CE6-1F12-0062-CDE08C5C2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0" y="815348"/>
            <a:ext cx="7068060" cy="587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12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48EED-16EC-500D-DE65-E414F7A8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DB87B-5EC2-3E56-4B5F-47420E0C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1" y="0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 信任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F07308-A249-171D-7DC1-9BA95B39794B}"/>
              </a:ext>
            </a:extLst>
          </p:cNvPr>
          <p:cNvSpPr txBox="1"/>
          <p:nvPr/>
        </p:nvSpPr>
        <p:spPr>
          <a:xfrm>
            <a:off x="7795804" y="1466521"/>
            <a:ext cx="8350250" cy="317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仁爱维度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11.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更有同理心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12.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更关心他人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13.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更无私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14.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更怀有善意</a:t>
            </a:r>
          </a:p>
          <a:p>
            <a:pPr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友好维度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15.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更有礼貌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16.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更积极回应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17.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更有耐心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552F3D-BF8A-87B1-0DFC-1C6D92C31AF0}"/>
              </a:ext>
            </a:extLst>
          </p:cNvPr>
          <p:cNvSpPr txBox="1"/>
          <p:nvPr/>
        </p:nvSpPr>
        <p:spPr>
          <a:xfrm>
            <a:off x="701148" y="1216756"/>
            <a:ext cx="6096000" cy="460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可靠性维度</a:t>
            </a:r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更可靠</a:t>
            </a:r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更可预测</a:t>
            </a:r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更值得依赖</a:t>
            </a:r>
          </a:p>
          <a:p>
            <a:pPr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能力维度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4.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更有见识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5.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更有能力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6.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更有效率</a:t>
            </a:r>
          </a:p>
          <a:p>
            <a:pPr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可理解性维度</a:t>
            </a:r>
            <a:endParaRPr lang="en-US" altLang="zh-CN" b="1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7.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更理性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8.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更容易理解</a:t>
            </a:r>
          </a:p>
          <a:p>
            <a:pPr>
              <a:lnSpc>
                <a:spcPct val="125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诚信维度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9.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更诚实</a:t>
            </a:r>
            <a:endParaRPr lang="en-US" altLang="zh-CN" sz="16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10.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更公平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4CFD0C6-A91B-FD8A-90EE-C5BA681B542B}"/>
              </a:ext>
            </a:extLst>
          </p:cNvPr>
          <p:cNvSpPr txBox="1">
            <a:spLocks/>
          </p:cNvSpPr>
          <p:nvPr/>
        </p:nvSpPr>
        <p:spPr>
          <a:xfrm>
            <a:off x="1158060" y="5406154"/>
            <a:ext cx="3686316" cy="1364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Cognitive Trust</a:t>
            </a:r>
            <a:endParaRPr lang="zh-CN" altLang="en-US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3799D32-5AD5-CD0E-54A4-B64F1C150E3A}"/>
              </a:ext>
            </a:extLst>
          </p:cNvPr>
          <p:cNvSpPr txBox="1">
            <a:spLocks/>
          </p:cNvSpPr>
          <p:nvPr/>
        </p:nvSpPr>
        <p:spPr>
          <a:xfrm>
            <a:off x="8749920" y="5097500"/>
            <a:ext cx="3519324" cy="1213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Affective Trust</a:t>
            </a:r>
            <a:endParaRPr lang="zh-CN" altLang="en-US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9187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31758-C94F-071E-1E07-9E1FCF14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0D52F-9766-C99F-79D1-005487939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1" y="0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问卷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 信任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B9EC76-4813-6C3A-D7BE-0624AF8152F8}"/>
              </a:ext>
            </a:extLst>
          </p:cNvPr>
          <p:cNvSpPr txBox="1"/>
          <p:nvPr/>
        </p:nvSpPr>
        <p:spPr>
          <a:xfrm>
            <a:off x="7932906" y="1096870"/>
            <a:ext cx="83502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仁爱维度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更有同理心</a:t>
            </a:r>
          </a:p>
          <a:p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2. 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更敏感</a:t>
            </a:r>
          </a:p>
          <a:p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3. 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更有人情味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4.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更关心他人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5.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更无私</a:t>
            </a:r>
          </a:p>
          <a:p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6. 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更仁慈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7.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更怀有善意</a:t>
            </a:r>
          </a:p>
          <a:p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8. 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更有支持性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友好维度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9.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更有礼貌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10.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更积极回应</a:t>
            </a:r>
          </a:p>
          <a:p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11. 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更开明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12. 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更有耐心</a:t>
            </a:r>
          </a:p>
          <a:p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13. 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更讨人喜欢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D77BDB-9129-9204-3C0B-87BD71F9B695}"/>
              </a:ext>
            </a:extLst>
          </p:cNvPr>
          <p:cNvSpPr txBox="1"/>
          <p:nvPr/>
        </p:nvSpPr>
        <p:spPr>
          <a:xfrm>
            <a:off x="641215" y="628767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可靠性维度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更可靠</a:t>
            </a:r>
          </a:p>
          <a:p>
            <a:pPr>
              <a:buFont typeface="+mj-lt"/>
              <a:buAutoNum type="arabicPeriod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更一致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更可预测</a:t>
            </a:r>
          </a:p>
          <a:p>
            <a:pPr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更值得依赖</a:t>
            </a:r>
          </a:p>
          <a:p>
            <a:pPr>
              <a:buFont typeface="+mj-lt"/>
              <a:buAutoNum type="arabicPeriod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更专注</a:t>
            </a:r>
          </a:p>
          <a:p>
            <a:pPr>
              <a:buFont typeface="+mj-lt"/>
              <a:buAutoNum type="arabicPeriod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更细心</a:t>
            </a:r>
          </a:p>
          <a:p>
            <a:pPr>
              <a:buFont typeface="+mj-lt"/>
              <a:buAutoNum type="arabicPeriod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更可信</a:t>
            </a:r>
          </a:p>
          <a:p>
            <a:pPr>
              <a:buFont typeface="+mj-lt"/>
              <a:buAutoNum type="arabicPeriod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更有前途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能力维度</a:t>
            </a:r>
          </a:p>
          <a:p>
            <a:pPr>
              <a:buFont typeface="+mj-lt"/>
              <a:buAutoNum type="arabicPeriod" startAt="9"/>
            </a:pP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更有见识</a:t>
            </a:r>
          </a:p>
          <a:p>
            <a:pPr>
              <a:buFont typeface="+mj-lt"/>
              <a:buAutoNum type="arabicPeriod" startAt="9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更有能力</a:t>
            </a:r>
          </a:p>
          <a:p>
            <a:pPr>
              <a:buFont typeface="+mj-lt"/>
              <a:buAutoNum type="arabicPeriod" startAt="9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更有效率</a:t>
            </a:r>
          </a:p>
          <a:p>
            <a:pPr>
              <a:buFont typeface="+mj-lt"/>
              <a:buAutoNum type="arabicPeriod" startAt="9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更有经验</a:t>
            </a:r>
          </a:p>
          <a:p>
            <a:pPr>
              <a:buFont typeface="+mj-lt"/>
              <a:buAutoNum type="arabicPeriod" startAt="9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更专业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可理解性维度</a:t>
            </a:r>
          </a:p>
          <a:p>
            <a:pPr>
              <a:buFont typeface="+mj-lt"/>
              <a:buAutoNum type="arabicPeriod" startAt="14"/>
            </a:pP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更理性</a:t>
            </a:r>
          </a:p>
          <a:p>
            <a:pPr>
              <a:buFont typeface="+mj-lt"/>
              <a:buAutoNum type="arabicPeriod" startAt="14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更合理</a:t>
            </a:r>
          </a:p>
          <a:p>
            <a:pPr>
              <a:buFont typeface="+mj-lt"/>
              <a:buAutoNum type="arabicPeriod" startAt="14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更容易理解</a:t>
            </a:r>
          </a:p>
          <a:p>
            <a:pPr>
              <a:buFont typeface="+mj-lt"/>
              <a:buAutoNum type="arabicPeriod" startAt="14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更透明</a:t>
            </a:r>
          </a:p>
          <a:p>
            <a:pPr>
              <a:buNone/>
            </a:pPr>
            <a:r>
              <a:rPr lang="zh-CN" altLang="en-US" b="1" dirty="0">
                <a:latin typeface="Times New Roman" panose="02020603050405020304" pitchFamily="18" charset="0"/>
                <a:ea typeface="仿宋" panose="02010609060101010101" pitchFamily="49" charset="-122"/>
              </a:rPr>
              <a:t>诚信维度</a:t>
            </a:r>
          </a:p>
          <a:p>
            <a:pPr>
              <a:buFont typeface="+mj-lt"/>
              <a:buAutoNum type="arabicPeriod" startAt="18"/>
            </a:pPr>
            <a:r>
              <a:rPr lang="zh-CN" altLang="en-US" dirty="0"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更诚实</a:t>
            </a:r>
          </a:p>
          <a:p>
            <a:pPr>
              <a:buFont typeface="+mj-lt"/>
              <a:buAutoNum type="arabicPeriod" startAt="18"/>
            </a:pP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dirty="0">
                <a:latin typeface="Times New Roman" panose="02020603050405020304" pitchFamily="18" charset="0"/>
                <a:ea typeface="仿宋" panose="02010609060101010101" pitchFamily="49" charset="-122"/>
              </a:rPr>
              <a:t>更公平</a:t>
            </a:r>
          </a:p>
          <a:p>
            <a:pPr>
              <a:buFont typeface="+mj-lt"/>
              <a:buAutoNum type="arabicPeriod" startAt="18"/>
            </a:pP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 我认为人类比</a:t>
            </a:r>
            <a:r>
              <a:rPr lang="en-US" altLang="zh-CN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ChatGPT</a:t>
            </a:r>
            <a:r>
              <a:rPr lang="zh-CN" altLang="en-US" sz="1600" strike="sngStrike" dirty="0">
                <a:latin typeface="Times New Roman" panose="02020603050405020304" pitchFamily="18" charset="0"/>
                <a:ea typeface="仿宋" panose="02010609060101010101" pitchFamily="49" charset="-122"/>
              </a:rPr>
              <a:t>更真诚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B1B8073-4C4E-AD79-AB50-C83092ECC168}"/>
              </a:ext>
            </a:extLst>
          </p:cNvPr>
          <p:cNvSpPr txBox="1">
            <a:spLocks/>
          </p:cNvSpPr>
          <p:nvPr/>
        </p:nvSpPr>
        <p:spPr>
          <a:xfrm>
            <a:off x="4361701" y="5748785"/>
            <a:ext cx="3686316" cy="1364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Cognitive Trust</a:t>
            </a:r>
            <a:endParaRPr lang="zh-CN" altLang="en-US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FFFED7D-0F1E-0806-55CC-4077F98A8FE3}"/>
              </a:ext>
            </a:extLst>
          </p:cNvPr>
          <p:cNvSpPr txBox="1">
            <a:spLocks/>
          </p:cNvSpPr>
          <p:nvPr/>
        </p:nvSpPr>
        <p:spPr>
          <a:xfrm>
            <a:off x="8749920" y="5097500"/>
            <a:ext cx="3519324" cy="1213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Affective Trust</a:t>
            </a:r>
            <a:endParaRPr lang="zh-CN" altLang="en-US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6370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36C53-F85F-349A-1761-FBB68957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6BD38-BC04-F20C-1FB1-DB41063B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2" y="111516"/>
            <a:ext cx="8522677" cy="651609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实验页面</a:t>
            </a:r>
            <a:r>
              <a:rPr lang="en-US" altLang="zh-CN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-</a:t>
            </a:r>
            <a:r>
              <a:rPr lang="zh-CN" altLang="en-US" sz="3200" b="1" dirty="0">
                <a:latin typeface="仿宋" panose="02010609060101010101" pitchFamily="49" charset="-122"/>
                <a:ea typeface="仿宋" panose="02010609060101010101" pitchFamily="49" charset="-122"/>
              </a:rPr>
              <a:t>收益结算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7F48A11-54AC-638C-8728-328A50BF5C22}"/>
                  </a:ext>
                </a:extLst>
              </p14:cNvPr>
              <p14:cNvContentPartPr/>
              <p14:nvPr/>
            </p14:nvContentPartPr>
            <p14:xfrm>
              <a:off x="4238701" y="3672891"/>
              <a:ext cx="86040" cy="332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7F48A11-54AC-638C-8728-328A50BF5C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0061" y="3663891"/>
                <a:ext cx="10368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AF4D7EB8-9BD5-5AEF-3D28-E79BF8D3EA8B}"/>
                  </a:ext>
                </a:extLst>
              </p14:cNvPr>
              <p14:cNvContentPartPr/>
              <p14:nvPr/>
            </p14:nvContentPartPr>
            <p14:xfrm>
              <a:off x="1689181" y="371691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F4D7EB8-9BD5-5AEF-3D28-E79BF8D3EA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0541" y="363051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ADFA0E7-CDB8-36AE-5EDE-016FFD0D3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999" y="1049846"/>
            <a:ext cx="8770065" cy="54364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31A3800-C8DB-520B-50CC-F4798083BBF6}"/>
              </a:ext>
            </a:extLst>
          </p:cNvPr>
          <p:cNvSpPr txBox="1"/>
          <p:nvPr/>
        </p:nvSpPr>
        <p:spPr>
          <a:xfrm>
            <a:off x="7181851" y="505012"/>
            <a:ext cx="3867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---</a:t>
            </a:r>
          </a:p>
          <a:p>
            <a:r>
              <a:rPr lang="zh-CN" altLang="en-US" dirty="0"/>
              <a:t>出场费为</a:t>
            </a:r>
            <a:r>
              <a:rPr lang="en-US" altLang="zh-CN" dirty="0"/>
              <a:t>5</a:t>
            </a:r>
            <a:r>
              <a:rPr lang="zh-CN" altLang="en-US" dirty="0"/>
              <a:t>元，问卷收入为</a:t>
            </a:r>
            <a:r>
              <a:rPr lang="en-US" altLang="zh-CN" dirty="0"/>
              <a:t>5</a:t>
            </a:r>
            <a:r>
              <a:rPr lang="zh-CN" altLang="en-US" dirty="0"/>
              <a:t>元的异常换行已解决。</a:t>
            </a:r>
            <a:endParaRPr lang="en-US" altLang="zh-CN" dirty="0"/>
          </a:p>
          <a:p>
            <a:r>
              <a:rPr lang="en-US" altLang="zh-CN" dirty="0"/>
              <a:t>---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50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7922</TotalTime>
  <Words>1117</Words>
  <Application>Microsoft Office PowerPoint</Application>
  <PresentationFormat>宽屏</PresentationFormat>
  <Paragraphs>172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等线</vt:lpstr>
      <vt:lpstr>等线 Light</vt:lpstr>
      <vt:lpstr>仿宋</vt:lpstr>
      <vt:lpstr>Arial</vt:lpstr>
      <vt:lpstr>Times New Roman</vt:lpstr>
      <vt:lpstr>Office 主题​​</vt:lpstr>
      <vt:lpstr>实验页面-总说明</vt:lpstr>
      <vt:lpstr>实验页面-身份输入与输出</vt:lpstr>
      <vt:lpstr>实验页面-游戏说明1</vt:lpstr>
      <vt:lpstr>实验页面-游戏说明2</vt:lpstr>
      <vt:lpstr>实验页面-游戏说明3</vt:lpstr>
      <vt:lpstr>实验页面-游戏说明3按钮- 猜测点数计算方式</vt:lpstr>
      <vt:lpstr>实验页面-类型1（PD）测试问题说明</vt:lpstr>
      <vt:lpstr>实验页面-类型1（PD）测试问题</vt:lpstr>
      <vt:lpstr>实验页面-类型2（UG）测试问题说明</vt:lpstr>
      <vt:lpstr>实验页面-类型2（UG）测试问题</vt:lpstr>
      <vt:lpstr>实验页面-等待进入正式游戏</vt:lpstr>
      <vt:lpstr>实验页面-PD游戏说明</vt:lpstr>
      <vt:lpstr>实验页面-PD身份展示</vt:lpstr>
      <vt:lpstr>实验页面-PD决策</vt:lpstr>
      <vt:lpstr>实验页面-PD预测</vt:lpstr>
      <vt:lpstr>实验页面-满意度（subjective well-being (SWB)）</vt:lpstr>
      <vt:lpstr>实验页面-结果</vt:lpstr>
      <vt:lpstr>实验页面-TG/UG游戏说明</vt:lpstr>
      <vt:lpstr>实验页面-TG/UG身份展示</vt:lpstr>
      <vt:lpstr>实验页面-TG/UG决策</vt:lpstr>
      <vt:lpstr>实验页面-TG/UG游戏预测</vt:lpstr>
      <vt:lpstr>实验页面-TG/UG游戏结果</vt:lpstr>
      <vt:lpstr>实验页面-重复省略</vt:lpstr>
      <vt:lpstr>实验页面-Bomb Risk游戏说明</vt:lpstr>
      <vt:lpstr>实验页面-彩票游戏测试问题</vt:lpstr>
      <vt:lpstr>实验页面-彩票游戏决策</vt:lpstr>
      <vt:lpstr>实验页面-彩票游戏结果</vt:lpstr>
      <vt:lpstr>实验页面-问卷1 人口统计信息</vt:lpstr>
      <vt:lpstr>实验页面-问卷2 人格特质</vt:lpstr>
      <vt:lpstr>实验页面-问卷3 Big Five Inventory</vt:lpstr>
      <vt:lpstr>实验页面-问卷4 决策环境感知</vt:lpstr>
      <vt:lpstr>实验页面-问卷5 金钱驱动</vt:lpstr>
      <vt:lpstr>实验页面-问卷6人机感知</vt:lpstr>
      <vt:lpstr>实验页面-问卷7 信任</vt:lpstr>
      <vt:lpstr>实验页面-问卷7 信任</vt:lpstr>
      <vt:lpstr>实验页面-收益结算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CHEN</dc:creator>
  <cp:lastModifiedBy>Jinghao CHEN</cp:lastModifiedBy>
  <cp:revision>149</cp:revision>
  <dcterms:created xsi:type="dcterms:W3CDTF">2024-06-04T02:02:52Z</dcterms:created>
  <dcterms:modified xsi:type="dcterms:W3CDTF">2025-04-21T14:11:16Z</dcterms:modified>
</cp:coreProperties>
</file>